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2549E8-BFF9-7671-B579-2E5740425C8A}" v="2" dt="2026-05-01T21:20:30.719"/>
    <p1510:client id="{A560CE7A-BB34-8080-85EC-7AC627E826BA}" v="6" dt="2026-05-01T22:03:43.708"/>
    <p1510:client id="{DE6C61DF-F3C9-294C-5329-6EF236E3F66E}" v="21" dt="2026-05-01T21:55:04.402"/>
    <p1510:client id="{EFF88C80-46AE-63A5-9E22-30E5D98C4EFC}" v="1" dt="2026-05-01T21:19:45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576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3400"/>
          </a:p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3400"/>
          </a:p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36576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"Denim Lifestyle" Pivot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32918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 Strauss &amp; Co.  ·  $50M Investment  ·  May 2026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Denim</a:t>
            </a:r>
            <a:endParaRPr lang="en-US" sz="2200"/>
          </a:p>
          <a:p>
            <a:pPr marL="0" indent="0" algn="l">
              <a:buNone/>
            </a:pPr>
            <a:r>
              <a:rPr lang="en-US" sz="2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</a:t>
            </a:r>
            <a:endParaRPr lang="en-US" sz="2200"/>
          </a:p>
          <a:p>
            <a:pPr marL="0" indent="0" algn="l">
              <a:buNone/>
            </a:pPr>
            <a:r>
              <a:rPr lang="en-US" sz="2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Lifestyle Brand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4846320" y="4480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BUAN 6390 — Analytics Practicum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576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Levi's Today: FY2025 Snapshot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 of genuine strength — entering transformation from solid ground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82880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$6.28B</a:t>
            </a:r>
            <a:endParaRPr lang="en-US" sz="2600"/>
          </a:p>
        </p:txBody>
      </p:sp>
      <p:sp>
        <p:nvSpPr>
          <p:cNvPr id="9" name="Text 6"/>
          <p:cNvSpPr/>
          <p:nvPr/>
        </p:nvSpPr>
        <p:spPr>
          <a:xfrm>
            <a:off x="530352" y="20848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organic growth</a:t>
            </a:r>
            <a:endParaRPr lang="en-US" sz="950"/>
          </a:p>
        </p:txBody>
      </p:sp>
      <p:sp>
        <p:nvSpPr>
          <p:cNvPr id="10" name="Shape 7"/>
          <p:cNvSpPr/>
          <p:nvPr/>
        </p:nvSpPr>
        <p:spPr>
          <a:xfrm>
            <a:off x="2468880" y="137160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1371600"/>
            <a:ext cx="18288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6032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</a:t>
            </a:r>
            <a:endParaRPr lang="en-US" sz="2600"/>
          </a:p>
        </p:txBody>
      </p:sp>
      <p:sp>
        <p:nvSpPr>
          <p:cNvPr id="13" name="Text 10"/>
          <p:cNvSpPr/>
          <p:nvPr/>
        </p:nvSpPr>
        <p:spPr>
          <a:xfrm>
            <a:off x="2542032" y="20848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high FY2025</a:t>
            </a:r>
            <a:endParaRPr lang="en-US" sz="950"/>
          </a:p>
        </p:txBody>
      </p:sp>
      <p:sp>
        <p:nvSpPr>
          <p:cNvPr id="14" name="Shape 11"/>
          <p:cNvSpPr/>
          <p:nvPr/>
        </p:nvSpPr>
        <p:spPr>
          <a:xfrm>
            <a:off x="4480560" y="137160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80560" y="1371600"/>
            <a:ext cx="18288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$3.07B</a:t>
            </a:r>
            <a:endParaRPr lang="en-US" sz="2600"/>
          </a:p>
        </p:txBody>
      </p:sp>
      <p:sp>
        <p:nvSpPr>
          <p:cNvPr id="17" name="Text 14"/>
          <p:cNvSpPr/>
          <p:nvPr/>
        </p:nvSpPr>
        <p:spPr>
          <a:xfrm>
            <a:off x="4553712" y="20848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Revenue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YoY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6492240" y="137160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92240" y="1371600"/>
            <a:ext cx="18288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8368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2600"/>
          </a:p>
        </p:txBody>
      </p:sp>
      <p:sp>
        <p:nvSpPr>
          <p:cNvPr id="21" name="Text 18"/>
          <p:cNvSpPr/>
          <p:nvPr/>
        </p:nvSpPr>
        <p:spPr>
          <a:xfrm>
            <a:off x="6565392" y="208483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growth</a:t>
            </a:r>
            <a:endParaRPr lang="en-US" sz="950"/>
          </a:p>
        </p:txBody>
      </p:sp>
      <p:sp>
        <p:nvSpPr>
          <p:cNvPr id="22" name="Text 19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sz="1700" i="0">
                <a:solidFill>
                  <a:srgbClr val="1E3A5F"/>
                </a:solidFill>
                <a:latin typeface="Aptos"/>
              </a:rPr>
              <a:t>CEO Michelle Gass has committed to a DTC-first, head-to-toe denim lifestyle strategy.</a:t>
            </a:r>
          </a:p>
          <a:p>
            <a:pPr algn="ctr"/>
            <a:r>
              <a:rPr sz="1700" i="0">
                <a:solidFill>
                  <a:srgbClr val="1E3A5F"/>
                </a:solidFill>
                <a:latin typeface="Aptos"/>
              </a:rPr>
              <a:t>This report is the </a:t>
            </a:r>
            <a:r>
              <a:rPr lang="en-US" sz="1700">
                <a:solidFill>
                  <a:srgbClr val="1E3A5F"/>
                </a:solidFill>
                <a:latin typeface="Aptos"/>
              </a:rPr>
              <a:t>strategic operational</a:t>
            </a:r>
            <a:r>
              <a:rPr sz="1700" i="0">
                <a:solidFill>
                  <a:srgbClr val="1E3A5F"/>
                </a:solidFill>
                <a:latin typeface="Aptos"/>
              </a:rPr>
              <a:t> plan that executes that commitment.</a:t>
            </a:r>
          </a:p>
          <a:p>
            <a:pPr algn="ctr"/>
            <a:r>
              <a:rPr sz="1500" i="1">
                <a:solidFill>
                  <a:srgbClr val="1E3A5F"/>
                </a:solidFill>
                <a:latin typeface="Aptos"/>
              </a:rPr>
              <a:t>The foundation is strong. The opportunity now is to deepen it.</a:t>
            </a:r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Levi's Q4 FY2025 Earnings Release &amp; SEC 8-K filings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57200"/>
            <a:ext cx="3474720" cy="347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Friction Points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holding Levi's back from full lifestyle brand capture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5303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1307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1143000" y="1325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Cross-Sell Barrier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1143000" y="1691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50" b="0" i="0">
                <a:solidFill>
                  <a:srgbClr val="374651"/>
                </a:solidFill>
                <a:latin typeface="Aptos"/>
              </a:rPr>
              <a:t>Deep trust in bottoms doesn't yet extend to tops.</a:t>
            </a:r>
          </a:p>
          <a:p>
            <a:r>
              <a:rPr sz="1050" b="0" i="0">
                <a:solidFill>
                  <a:srgbClr val="374651"/>
                </a:solidFill>
                <a:latin typeface="Aptos"/>
              </a:rPr>
              <a:t>Customers complete outfits outside Levi's — limiting AOV and DTC effectiveness.</a:t>
            </a:r>
          </a:p>
        </p:txBody>
      </p:sp>
      <p:sp>
        <p:nvSpPr>
          <p:cNvPr id="11" name="Shape 8"/>
          <p:cNvSpPr/>
          <p:nvPr/>
        </p:nvSpPr>
        <p:spPr>
          <a:xfrm>
            <a:off x="457200" y="2404872"/>
            <a:ext cx="5303520" cy="1051560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404872"/>
            <a:ext cx="73152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" y="24780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/>
          </a:p>
        </p:txBody>
      </p:sp>
      <p:sp>
        <p:nvSpPr>
          <p:cNvPr id="14" name="Text 11"/>
          <p:cNvSpPr/>
          <p:nvPr/>
        </p:nvSpPr>
        <p:spPr>
          <a:xfrm>
            <a:off x="1143000" y="24963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1143000" y="28620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Only ~60% of apparel inventory sells at full price industry-wide.</a:t>
            </a:r>
            <a:endParaRPr lang="en-US" sz="950"/>
          </a:p>
          <a:p>
            <a:pPr marL="0" indent="0">
              <a:buNone/>
            </a:pPr>
            <a:r>
              <a:rPr lang="en-US" sz="1000" b="0" i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Expanding into lifestyle SKUs without improved forecasting threatens the record 61.7% gross margin Levi's has spent two years defending.</a:t>
            </a:r>
            <a:endParaRPr lang="en-US" sz="950"/>
          </a:p>
        </p:txBody>
      </p:sp>
      <p:sp>
        <p:nvSpPr>
          <p:cNvPr id="16" name="Shape 13"/>
          <p:cNvSpPr/>
          <p:nvPr/>
        </p:nvSpPr>
        <p:spPr>
          <a:xfrm>
            <a:off x="457200" y="3575304"/>
            <a:ext cx="5303520" cy="10515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575304"/>
            <a:ext cx="73152" cy="1051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1792" y="3648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1143000" y="36667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Agility Gap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1143000" y="403250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Levi's design-to-shelf cycle: 12–16 weeks.</a:t>
            </a:r>
            <a:endParaRPr lang="en-US" sz="950"/>
          </a:p>
          <a:p>
            <a:pPr marL="0" indent="0">
              <a:buNone/>
            </a:pPr>
            <a:r>
              <a:rPr lang="en-US" sz="1000" b="0" i="0">
                <a:solidFill>
                  <a:srgbClr val="6B7280"/>
                </a:solidFill>
                <a:latin typeface="Aptos"/>
                <a:ea typeface="Calibri"/>
                <a:cs typeface="Calibri"/>
              </a:rPr>
              <a:t>Social trends (TikTok/Instagram) emerge, peak and fade in </a:t>
            </a:r>
            <a:r>
              <a:rPr lang="en-US" sz="1000">
                <a:solidFill>
                  <a:srgbClr val="6B7280"/>
                </a:solidFill>
                <a:latin typeface="Aptos"/>
                <a:ea typeface="Calibri"/>
                <a:cs typeface="Calibri"/>
              </a:rPr>
              <a:t>6–9</a:t>
            </a:r>
            <a:r>
              <a:rPr lang="en-US" sz="1000" b="0" i="0">
                <a:solidFill>
                  <a:srgbClr val="6B7280"/>
                </a:solidFill>
                <a:latin typeface="Aptos"/>
                <a:ea typeface="Calibri"/>
                <a:cs typeface="Calibri"/>
              </a:rPr>
              <a:t> weeks.</a:t>
            </a:r>
            <a:endParaRPr lang="en-US" sz="950">
              <a:latin typeface="Apto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00" b="0" i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By the time a trend-aligned product reaches the floor, the moment has already passed.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48640"/>
            <a:ext cx="329184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9436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Coordinated Initiatives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$50M investment portfolio — each targeted, collectively transformative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56692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029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1472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1051560" y="129844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 b="1" i="0">
                <a:solidFill>
                  <a:srgbClr val="1E3A5F"/>
                </a:solidFill>
                <a:latin typeface="Aptos"/>
              </a:rPr>
              <a:t>Personalized Recommendation Engine   |   $15M</a:t>
            </a:r>
          </a:p>
        </p:txBody>
      </p:sp>
      <p:sp>
        <p:nvSpPr>
          <p:cNvPr id="10" name="Text 7"/>
          <p:cNvSpPr/>
          <p:nvPr/>
        </p:nvSpPr>
        <p:spPr>
          <a:xfrm>
            <a:off x="1051560" y="166420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50" b="0" i="0">
                <a:solidFill>
                  <a:srgbClr val="6B7280"/>
                </a:solidFill>
                <a:latin typeface="Aptos"/>
              </a:rPr>
              <a:t>Addresses: Cross-sell barrier</a:t>
            </a:r>
          </a:p>
        </p:txBody>
      </p:sp>
      <p:sp>
        <p:nvSpPr>
          <p:cNvPr id="11" name="Text 8"/>
          <p:cNvSpPr/>
          <p:nvPr/>
        </p:nvSpPr>
        <p:spPr>
          <a:xfrm>
            <a:off x="1051560" y="18470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" y="2377440"/>
            <a:ext cx="56692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57200" y="2377440"/>
            <a:ext cx="50292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57200" y="2660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051560" y="248716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 b="1" i="0">
                <a:solidFill>
                  <a:srgbClr val="1E3A5F"/>
                </a:solidFill>
                <a:latin typeface="Aptos"/>
              </a:rPr>
              <a:t>AI-Aided Apparel Design   |   $20M</a:t>
            </a:r>
          </a:p>
        </p:txBody>
      </p:sp>
      <p:sp>
        <p:nvSpPr>
          <p:cNvPr id="16" name="Text 13"/>
          <p:cNvSpPr/>
          <p:nvPr/>
        </p:nvSpPr>
        <p:spPr>
          <a:xfrm>
            <a:off x="1051560" y="28529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50" b="0" i="0">
                <a:solidFill>
                  <a:srgbClr val="6B7280"/>
                </a:solidFill>
                <a:latin typeface="Aptos"/>
              </a:rPr>
              <a:t>Addresses: Agility gap + inventory risk</a:t>
            </a:r>
          </a:p>
        </p:txBody>
      </p:sp>
      <p:sp>
        <p:nvSpPr>
          <p:cNvPr id="17" name="Text 14"/>
          <p:cNvSpPr/>
          <p:nvPr/>
        </p:nvSpPr>
        <p:spPr>
          <a:xfrm>
            <a:off x="1051560" y="30358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56692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57200" y="3566160"/>
            <a:ext cx="502920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57200" y="38496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/>
          </a:p>
        </p:txBody>
      </p:sp>
      <p:sp>
        <p:nvSpPr>
          <p:cNvPr id="21" name="Text 18"/>
          <p:cNvSpPr/>
          <p:nvPr/>
        </p:nvSpPr>
        <p:spPr>
          <a:xfrm>
            <a:off x="1051560" y="3675887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0" b="1" i="0">
                <a:solidFill>
                  <a:srgbClr val="1E3A5F"/>
                </a:solidFill>
                <a:latin typeface="Aptos"/>
              </a:rPr>
              <a:t>Licensed Capsule Collaborations (F1 / McLaren)   |   $10M</a:t>
            </a:r>
          </a:p>
        </p:txBody>
      </p:sp>
      <p:sp>
        <p:nvSpPr>
          <p:cNvPr id="22" name="Text 19"/>
          <p:cNvSpPr/>
          <p:nvPr/>
        </p:nvSpPr>
        <p:spPr>
          <a:xfrm>
            <a:off x="1051560" y="404164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50" b="0" i="0">
                <a:solidFill>
                  <a:srgbClr val="6B7280"/>
                </a:solidFill>
                <a:latin typeface="Aptos"/>
              </a:rPr>
              <a:t>Addresses: Inventory risk + brand relevance</a:t>
            </a:r>
          </a:p>
        </p:txBody>
      </p:sp>
      <p:sp>
        <p:nvSpPr>
          <p:cNvPr id="23" name="Text 20"/>
          <p:cNvSpPr/>
          <p:nvPr/>
        </p:nvSpPr>
        <p:spPr>
          <a:xfrm>
            <a:off x="1051560" y="42245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457200" y="46451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i="1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+ $5M Contingency Reserve (unallocated — deployment-triggered)</a:t>
            </a:r>
            <a:endParaRPr lang="en-US" sz="950"/>
          </a:p>
        </p:txBody>
      </p:sp>
      <p:sp>
        <p:nvSpPr>
          <p:cNvPr id="25" name="TextBox 24"/>
          <p:cNvSpPr txBox="1"/>
          <p:nvPr/>
        </p:nvSpPr>
        <p:spPr>
          <a:xfrm>
            <a:off x="457200" y="4873752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6B7280"/>
                </a:solidFill>
                <a:latin typeface="Aptos"/>
              </a:rPr>
              <a:t>$50M total investment - conservative base-case projections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32" y="388620"/>
            <a:ext cx="3315547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 i="0">
                <a:solidFill>
                  <a:srgbClr val="1E3A5F"/>
                </a:solidFill>
                <a:latin typeface="Aptos Display"/>
              </a:rPr>
              <a:t>P1 · Personalized Recommendation Engine</a:t>
            </a:r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i="0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$15M — Directly addresses the cross-sell barrier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933869" cy="65836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289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Dev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2651760" y="1289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~$7M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594360" y="1581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Tab + BackPocket + capsule signal stack</a:t>
            </a:r>
            <a:endParaRPr lang="en-US" sz="95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9338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2066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Trend Layer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2651760" y="2066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~$5M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594360" y="2359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Heuritech + Brandwatch real-time regional signals</a:t>
            </a:r>
            <a:endParaRPr lang="en-US" sz="95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2933869" cy="658368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2843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2651760" y="2843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~$3M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594360" y="3136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Levi.com, app, shop-in-shop, Microsoft Super-Agent</a:t>
            </a:r>
            <a:endParaRPr lang="en-US" sz="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3D1CF3-58F1-6DF5-5530-47EEAB0CC57E}"/>
              </a:ext>
            </a:extLst>
          </p:cNvPr>
          <p:cNvGrpSpPr/>
          <p:nvPr/>
        </p:nvGrpSpPr>
        <p:grpSpPr>
          <a:xfrm>
            <a:off x="457200" y="3644125"/>
            <a:ext cx="5120640" cy="950976"/>
            <a:chOff x="457200" y="3566160"/>
            <a:chExt cx="5120640" cy="950976"/>
          </a:xfrm>
        </p:grpSpPr>
        <p:sp>
          <p:nvSpPr>
            <p:cNvPr id="18" name="Shape 15"/>
            <p:cNvSpPr/>
            <p:nvPr/>
          </p:nvSpPr>
          <p:spPr>
            <a:xfrm>
              <a:off x="457200" y="3566160"/>
              <a:ext cx="5120640" cy="950976"/>
            </a:xfrm>
            <a:prstGeom prst="rect">
              <a:avLst/>
            </a:prstGeom>
            <a:solidFill>
              <a:srgbClr val="F0F4FF"/>
            </a:solidFill>
            <a:ln w="1905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594360" y="3639312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6-Quarter Revenue Ramp (Conservative 2% DTC lift)</a:t>
              </a:r>
              <a:endParaRPr lang="en-US" sz="1050"/>
            </a:p>
          </p:txBody>
        </p:sp>
        <p:sp>
          <p:nvSpPr>
            <p:cNvPr id="21" name="Text 18"/>
            <p:cNvSpPr/>
            <p:nvPr/>
          </p:nvSpPr>
          <p:spPr>
            <a:xfrm>
              <a:off x="594360" y="3968496"/>
              <a:ext cx="4846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9BA4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Payback: 9–12 months after ramp  |  6Q Total: ~$61M incremental revenue</a:t>
              </a:r>
              <a:endParaRPr lang="en-US" sz="95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i="1">
                <a:solidFill>
                  <a:srgbClr val="6B7280"/>
                </a:solidFill>
                <a:latin typeface="Aptos"/>
              </a:rPr>
              <a:t>Conservative 2% DTC lift - well below McKinsey 5-15% industry range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1B8E22-5CF4-E31C-004F-7E2FF13B8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730" y="1324864"/>
            <a:ext cx="3648459" cy="2103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65760"/>
            <a:ext cx="36576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AI-Aided Apparel Design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 — Closes the agility gap and reduces inventory risk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468880" cy="1554480"/>
          </a:xfrm>
          <a:prstGeom prst="rect">
            <a:avLst/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cycle
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sampling
high cost &amp; time
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feedback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3063240" y="1234440"/>
            <a:ext cx="2468880" cy="1554480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5468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3154680" y="1600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4E60"/>
                </a:solidFill>
                <a:latin typeface="Calibri"/>
                <a:ea typeface="Calibri"/>
                <a:cs typeface="Calibri"/>
              </a:rPr>
              <a:t>20–25% cycle compression
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00">
                <a:solidFill>
                  <a:srgbClr val="3D4E60"/>
                </a:solidFill>
                <a:latin typeface="Calibri"/>
                <a:ea typeface="Calibri"/>
                <a:cs typeface="Calibri"/>
              </a:rPr>
              <a:t>3D virtual sampling
(CLO 3D / </a:t>
            </a:r>
            <a:r>
              <a:rPr lang="en-US" sz="1000" err="1">
                <a:solidFill>
                  <a:srgbClr val="3D4E60"/>
                </a:solidFill>
                <a:latin typeface="Calibri"/>
                <a:ea typeface="Calibri"/>
                <a:cs typeface="Calibri"/>
              </a:rPr>
              <a:t>Browzwear</a:t>
            </a:r>
            <a:r>
              <a:rPr lang="en-US" sz="1000">
                <a:solidFill>
                  <a:srgbClr val="3D4E60"/>
                </a:solidFill>
                <a:latin typeface="Calibri"/>
                <a:ea typeface="Calibri"/>
                <a:cs typeface="Calibri"/>
              </a:rPr>
              <a:t>)
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0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signals feed design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2880360" y="1828800"/>
            <a:ext cx="20116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5120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Cost Savings</a:t>
            </a:r>
            <a:endParaRPr lang="en-US" sz="1050"/>
          </a:p>
        </p:txBody>
      </p:sp>
      <p:sp>
        <p:nvSpPr>
          <p:cNvPr id="15" name="Text 12"/>
          <p:cNvSpPr/>
          <p:nvPr/>
        </p:nvSpPr>
        <p:spPr>
          <a:xfrm>
            <a:off x="411480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~$7–10M/yr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457200" y="3447288"/>
            <a:ext cx="5120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Improvement</a:t>
            </a:r>
            <a:endParaRPr lang="en-US" sz="1050"/>
          </a:p>
        </p:txBody>
      </p:sp>
      <p:sp>
        <p:nvSpPr>
          <p:cNvPr id="18" name="Text 15"/>
          <p:cNvSpPr/>
          <p:nvPr/>
        </p:nvSpPr>
        <p:spPr>
          <a:xfrm>
            <a:off x="4114800" y="34930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+2pp → ~$9M GP</a:t>
            </a:r>
            <a:endParaRPr lang="en-US" sz="1200"/>
          </a:p>
        </p:txBody>
      </p:sp>
      <p:sp>
        <p:nvSpPr>
          <p:cNvPr id="19" name="Shape 16"/>
          <p:cNvSpPr/>
          <p:nvPr/>
        </p:nvSpPr>
        <p:spPr>
          <a:xfrm>
            <a:off x="457200" y="3922776"/>
            <a:ext cx="512064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</a:t>
            </a:r>
            <a:endParaRPr lang="en-US" sz="1050"/>
          </a:p>
        </p:txBody>
      </p:sp>
      <p:sp>
        <p:nvSpPr>
          <p:cNvPr id="21" name="Text 18"/>
          <p:cNvSpPr/>
          <p:nvPr/>
        </p:nvSpPr>
        <p:spPr>
          <a:xfrm>
            <a:off x="4114800" y="39684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~$14M</a:t>
            </a:r>
            <a:endParaRPr lang="en-US" sz="1200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24–30 months (conservative)  |  Also partially self-funds P3 capsule program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576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Licensed Capsule Collaborations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Pilot — F1 / McLaren anchor. Already proven. Now scaling.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× Levi's: Perfect Demographic Overlap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11887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11887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6642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827M</a:t>
            </a:r>
            <a:endParaRPr lang="en-US" sz="2200"/>
          </a:p>
        </p:txBody>
      </p:sp>
      <p:sp>
        <p:nvSpPr>
          <p:cNvPr id="10" name="Text 7"/>
          <p:cNvSpPr/>
          <p:nvPr/>
        </p:nvSpPr>
        <p:spPr>
          <a:xfrm>
            <a:off x="502920" y="21762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F1 fans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 since 2018</a:t>
            </a:r>
            <a:endParaRPr lang="en-US" sz="800"/>
          </a:p>
        </p:txBody>
      </p:sp>
      <p:sp>
        <p:nvSpPr>
          <p:cNvPr id="11" name="Shape 8"/>
          <p:cNvSpPr/>
          <p:nvPr/>
        </p:nvSpPr>
        <p:spPr>
          <a:xfrm>
            <a:off x="1783080" y="160020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783080" y="1600200"/>
            <a:ext cx="11887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28800" y="16642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200"/>
          </a:p>
        </p:txBody>
      </p:sp>
      <p:sp>
        <p:nvSpPr>
          <p:cNvPr id="14" name="Text 11"/>
          <p:cNvSpPr/>
          <p:nvPr/>
        </p:nvSpPr>
        <p:spPr>
          <a:xfrm>
            <a:off x="1828800" y="21762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fans under 35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all new fans</a:t>
            </a:r>
            <a:endParaRPr lang="en-US" sz="800"/>
          </a:p>
        </p:txBody>
      </p:sp>
      <p:sp>
        <p:nvSpPr>
          <p:cNvPr id="15" name="Shape 12"/>
          <p:cNvSpPr/>
          <p:nvPr/>
        </p:nvSpPr>
        <p:spPr>
          <a:xfrm>
            <a:off x="3108960" y="160020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08960" y="1600200"/>
            <a:ext cx="11887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154680" y="16642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200"/>
          </a:p>
        </p:txBody>
      </p:sp>
      <p:sp>
        <p:nvSpPr>
          <p:cNvPr id="18" name="Text 15"/>
          <p:cNvSpPr/>
          <p:nvPr/>
        </p:nvSpPr>
        <p:spPr>
          <a:xfrm>
            <a:off x="3154680" y="21762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audience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new fans are women</a:t>
            </a:r>
            <a:endParaRPr lang="en-US" sz="800"/>
          </a:p>
        </p:txBody>
      </p:sp>
      <p:sp>
        <p:nvSpPr>
          <p:cNvPr id="19" name="Shape 16"/>
          <p:cNvSpPr/>
          <p:nvPr/>
        </p:nvSpPr>
        <p:spPr>
          <a:xfrm>
            <a:off x="4434840" y="1600200"/>
            <a:ext cx="1188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34840" y="1600200"/>
            <a:ext cx="11887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480560" y="16642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/>
          </a:p>
        </p:txBody>
      </p:sp>
      <p:sp>
        <p:nvSpPr>
          <p:cNvPr id="22" name="Text 19"/>
          <p:cNvSpPr/>
          <p:nvPr/>
        </p:nvSpPr>
        <p:spPr>
          <a:xfrm>
            <a:off x="4480560" y="21762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more likely to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from F1 partners</a:t>
            </a:r>
            <a:endParaRPr lang="en-US" sz="800"/>
          </a:p>
        </p:txBody>
      </p:sp>
      <p:sp>
        <p:nvSpPr>
          <p:cNvPr id="23" name="Shape 20"/>
          <p:cNvSpPr/>
          <p:nvPr/>
        </p:nvSpPr>
        <p:spPr>
          <a:xfrm>
            <a:off x="457200" y="2971800"/>
            <a:ext cx="5120640" cy="1051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Scenarios — Year 1 Pilot (41,000 units, $3.6M gross sales)</a:t>
            </a:r>
            <a:endParaRPr lang="en-US" sz="1000"/>
          </a:p>
        </p:txBody>
      </p:sp>
      <p:sp>
        <p:nvSpPr>
          <p:cNvPr id="25" name="Text 22"/>
          <p:cNvSpPr/>
          <p:nvPr/>
        </p:nvSpPr>
        <p:spPr>
          <a:xfrm>
            <a:off x="594360" y="33467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594360" y="3593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Sell-through: 95%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$3.06M  |  Margin: 41.8%</a:t>
            </a:r>
            <a:endParaRPr lang="en-US" sz="850"/>
          </a:p>
        </p:txBody>
      </p:sp>
      <p:sp>
        <p:nvSpPr>
          <p:cNvPr id="27" name="Text 24"/>
          <p:cNvSpPr/>
          <p:nvPr/>
        </p:nvSpPr>
        <p:spPr>
          <a:xfrm>
            <a:off x="2258568" y="33467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50"/>
          </a:p>
        </p:txBody>
      </p:sp>
      <p:sp>
        <p:nvSpPr>
          <p:cNvPr id="28" name="Text 25"/>
          <p:cNvSpPr/>
          <p:nvPr/>
        </p:nvSpPr>
        <p:spPr>
          <a:xfrm>
            <a:off x="2258568" y="3593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Sell-through: 90%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$2.69M  |  Margin: 31.5%</a:t>
            </a:r>
            <a:endParaRPr lang="en-US" sz="850"/>
          </a:p>
        </p:txBody>
      </p:sp>
      <p:sp>
        <p:nvSpPr>
          <p:cNvPr id="29" name="Text 26"/>
          <p:cNvSpPr/>
          <p:nvPr/>
        </p:nvSpPr>
        <p:spPr>
          <a:xfrm>
            <a:off x="3922776" y="33467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</a:t>
            </a:r>
            <a:endParaRPr lang="en-US" sz="1050"/>
          </a:p>
        </p:txBody>
      </p:sp>
      <p:sp>
        <p:nvSpPr>
          <p:cNvPr id="30" name="Text 27"/>
          <p:cNvSpPr/>
          <p:nvPr/>
        </p:nvSpPr>
        <p:spPr>
          <a:xfrm>
            <a:off x="3922776" y="3593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Sell-through: 70%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$1.72M  |  Margin: 3.2%</a:t>
            </a:r>
            <a:endParaRPr lang="en-US" sz="850"/>
          </a:p>
        </p:txBody>
      </p:sp>
      <p:sp>
        <p:nvSpPr>
          <p:cNvPr id="31" name="Text 28"/>
          <p:cNvSpPr/>
          <p:nvPr/>
        </p:nvSpPr>
        <p:spPr>
          <a:xfrm>
            <a:off x="457200" y="41330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downside barely breaks even — bounded risk by design.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EC2E7EB5-E015-5539-9E77-BA65958CA4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092B5094-0B53-0371-811A-1D6F766B35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BF64BEC8-8893-5D8F-AA11-60CE69643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05"/>
            <a:ext cx="8966200" cy="525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0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57200"/>
            <a:ext cx="3474720" cy="347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9436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6-Quarter Financial Model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59436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base-case — J-curve trajectory to cumulative cash-positive at Q4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2618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02920" y="129844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~$70–80M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502920" y="17647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6Q Revenue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1847088" y="123444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1847088" y="1234440"/>
            <a:ext cx="12618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892808" y="129844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~$18M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1892808" y="17647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85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01A20C-5790-97E2-DF08-786670B522B4}"/>
              </a:ext>
            </a:extLst>
          </p:cNvPr>
          <p:cNvGrpSpPr/>
          <p:nvPr/>
        </p:nvGrpSpPr>
        <p:grpSpPr>
          <a:xfrm>
            <a:off x="3200400" y="1234440"/>
            <a:ext cx="1261872" cy="1005840"/>
            <a:chOff x="3236976" y="1234440"/>
            <a:chExt cx="1261872" cy="1005840"/>
          </a:xfrm>
        </p:grpSpPr>
        <p:sp>
          <p:nvSpPr>
            <p:cNvPr id="14" name="Shape 11"/>
            <p:cNvSpPr/>
            <p:nvPr/>
          </p:nvSpPr>
          <p:spPr>
            <a:xfrm>
              <a:off x="3236976" y="1234440"/>
              <a:ext cx="1261872" cy="1005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5" name="Shape 12"/>
            <p:cNvSpPr/>
            <p:nvPr/>
          </p:nvSpPr>
          <p:spPr>
            <a:xfrm>
              <a:off x="3236976" y="1234440"/>
              <a:ext cx="1261872" cy="45720"/>
            </a:xfrm>
            <a:prstGeom prst="rect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ext 13"/>
            <p:cNvSpPr/>
            <p:nvPr/>
          </p:nvSpPr>
          <p:spPr>
            <a:xfrm>
              <a:off x="3282696" y="1298448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~$50–60M</a:t>
              </a:r>
              <a:endParaRPr lang="en-US" sz="1600"/>
            </a:p>
          </p:txBody>
        </p:sp>
        <p:sp>
          <p:nvSpPr>
            <p:cNvPr id="17" name="Text 14"/>
            <p:cNvSpPr/>
            <p:nvPr/>
          </p:nvSpPr>
          <p:spPr>
            <a:xfrm>
              <a:off x="3282696" y="1764792"/>
              <a:ext cx="1170432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>
                  <a:solidFill>
                    <a:srgbClr val="9BA4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 Program</a:t>
              </a:r>
              <a:endParaRPr lang="en-US" sz="85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9BA4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Contribution</a:t>
              </a:r>
              <a:endParaRPr lang="en-US" sz="8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E5616E-FC86-DF04-40D9-C55A475692E0}"/>
              </a:ext>
            </a:extLst>
          </p:cNvPr>
          <p:cNvGrpSpPr/>
          <p:nvPr/>
        </p:nvGrpSpPr>
        <p:grpSpPr>
          <a:xfrm>
            <a:off x="4544568" y="1234440"/>
            <a:ext cx="1269492" cy="1034965"/>
            <a:chOff x="623316" y="2650067"/>
            <a:chExt cx="1269492" cy="1034965"/>
          </a:xfrm>
        </p:grpSpPr>
        <p:sp>
          <p:nvSpPr>
            <p:cNvPr id="19" name="Shape 16"/>
            <p:cNvSpPr/>
            <p:nvPr/>
          </p:nvSpPr>
          <p:spPr>
            <a:xfrm>
              <a:off x="623316" y="2650067"/>
              <a:ext cx="1261872" cy="45720"/>
            </a:xfrm>
            <a:prstGeom prst="rect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CCB8620-0199-338B-0922-7E69EFDA83F3}"/>
                </a:ext>
              </a:extLst>
            </p:cNvPr>
            <p:cNvGrpSpPr/>
            <p:nvPr/>
          </p:nvGrpSpPr>
          <p:grpSpPr>
            <a:xfrm>
              <a:off x="630936" y="2743200"/>
              <a:ext cx="1261872" cy="941832"/>
              <a:chOff x="4626864" y="1234440"/>
              <a:chExt cx="1261872" cy="941832"/>
            </a:xfrm>
          </p:grpSpPr>
          <p:sp>
            <p:nvSpPr>
              <p:cNvPr id="18" name="Shape 15"/>
              <p:cNvSpPr/>
              <p:nvPr/>
            </p:nvSpPr>
            <p:spPr>
              <a:xfrm>
                <a:off x="4626864" y="1234440"/>
                <a:ext cx="1261872" cy="910094"/>
              </a:xfrm>
              <a:prstGeom prst="rect">
                <a:avLst/>
              </a:prstGeom>
              <a:solidFill>
                <a:srgbClr val="1E3A5F"/>
              </a:solidFill>
              <a:ln w="12700">
                <a:solidFill>
                  <a:srgbClr val="1E3A5F"/>
                </a:solidFill>
                <a:prstDash val="solid"/>
              </a:ln>
              <a:effectLst>
                <a:outerShdw blurRad="63500" dist="12700" dir="8100000" algn="bl" rotWithShape="0">
                  <a:srgbClr val="000000">
                    <a:alpha val="7000"/>
                  </a:srgbClr>
                </a:outerShdw>
              </a:effectLst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4672584" y="1298448"/>
                <a:ext cx="11704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Q4</a:t>
                </a:r>
                <a:endParaRPr lang="en-US" sz="1600"/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4672584" y="1764792"/>
                <a:ext cx="1170432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Cash-Positive</a:t>
                </a:r>
                <a:endParaRPr lang="en-US" sz="850"/>
              </a:p>
              <a:p>
                <a:pPr marL="0" indent="0" algn="ctr">
                  <a:buNone/>
                </a:pPr>
                <a:r>
                  <a:rPr lang="en-US" sz="850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Quarter</a:t>
                </a:r>
                <a:endParaRPr lang="en-US" sz="850"/>
              </a:p>
            </p:txBody>
          </p:sp>
        </p:grpSp>
      </p:grpSp>
      <p:sp>
        <p:nvSpPr>
          <p:cNvPr id="24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i="1">
                <a:solidFill>
                  <a:srgbClr val="6B7280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Stress test: If all assumptions miss by 20% simultaneously → still ~$34M net. Asymmetric risk-return profile.</a:t>
            </a:r>
            <a:endParaRPr lang="en-US" sz="9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CA7EA08-260F-E788-AE34-DFDD3771A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016" y="2513838"/>
            <a:ext cx="3261905" cy="2104644"/>
          </a:xfrm>
          <a:prstGeom prst="rect">
            <a:avLst/>
          </a:prstGeom>
        </p:spPr>
      </p:pic>
      <p:sp>
        <p:nvSpPr>
          <p:cNvPr id="36" name="Text 19">
            <a:extLst>
              <a:ext uri="{FF2B5EF4-FFF2-40B4-BE49-F238E27FC236}">
                <a16:creationId xmlns:a16="http://schemas.microsoft.com/office/drawing/2014/main" id="{0C664F71-E7A4-DBBE-FDC8-4CF0F480675C}"/>
              </a:ext>
            </a:extLst>
          </p:cNvPr>
          <p:cNvSpPr/>
          <p:nvPr/>
        </p:nvSpPr>
        <p:spPr>
          <a:xfrm>
            <a:off x="457200" y="2423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Net P&amp;L — The J-Curve ($M)</a:t>
            </a:r>
            <a:endParaRPr lang="en-US" sz="1150"/>
          </a:p>
        </p:txBody>
      </p:sp>
      <p:graphicFrame>
        <p:nvGraphicFramePr>
          <p:cNvPr id="37" name="Table 0">
            <a:extLst>
              <a:ext uri="{FF2B5EF4-FFF2-40B4-BE49-F238E27FC236}">
                <a16:creationId xmlns:a16="http://schemas.microsoft.com/office/drawing/2014/main" id="{6DFDD055-3EC7-8EC3-E6F4-50A3CD51F91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788920"/>
          <a:ext cx="4947556" cy="1600200"/>
        </p:xfrm>
        <a:graphic>
          <a:graphicData uri="http://schemas.openxmlformats.org/drawingml/2006/table">
            <a:tbl>
              <a:tblPr/>
              <a:tblGrid>
                <a:gridCol w="1562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1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Q4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Q5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Q6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3D4E60"/>
                          </a:solidFill>
                        </a:rPr>
                        <a:t>Quarterly Contribution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1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11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20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30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33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3D4E60"/>
                          </a:solidFill>
                        </a:rPr>
                        <a:t>Quarterly Spend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8.5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9.0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8.5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9.0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7.5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7.5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3D4E60"/>
                          </a:solidFill>
                        </a:rPr>
                        <a:t>Net Quarterly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C8102E"/>
                          </a:solidFill>
                        </a:rPr>
                        <a:t>(7.5)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C8102E"/>
                          </a:solidFill>
                        </a:rPr>
                        <a:t>(4.0)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2.5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11.0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22.5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3D4E60"/>
                          </a:solidFill>
                        </a:rPr>
                        <a:t>25.5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3D4E60"/>
                          </a:solidFill>
                        </a:rPr>
                        <a:t>Cumulative Net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C8102E"/>
                          </a:solidFill>
                        </a:rPr>
                        <a:t>(7.5)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C8102E"/>
                          </a:solidFill>
                        </a:rPr>
                        <a:t>(11.5)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C8102E"/>
                          </a:solidFill>
                        </a:rPr>
                        <a:t>(9.0)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059669"/>
                          </a:solidFill>
                        </a:rPr>
                        <a:t>2.0 ✓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3D4E60"/>
                          </a:solidFill>
                        </a:rPr>
                        <a:t>24.5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3D4E60"/>
                          </a:solidFill>
                        </a:rPr>
                        <a:t>50.0</a:t>
                      </a:r>
                      <a:endParaRPr lang="en-US" sz="95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451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4747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— Group 7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54864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377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Pralay Rajkumar Patil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54864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Neehar Omkar Phatak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54864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3328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Manyata Agrawal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365760" y="3803904"/>
            <a:ext cx="54864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38039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Dilip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365760" y="4279392"/>
            <a:ext cx="54864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4279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Vijay Kulkarni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365760" y="4736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9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BUAN 6390 — Analytics Practicum  ·  May 2026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4937760" y="1371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"Levi's does not need more</a:t>
            </a:r>
            <a:endParaRPr lang="en-US" sz="1800"/>
          </a:p>
          <a:p>
            <a:pPr marL="0" indent="0" algn="l">
              <a:buNone/>
            </a:pPr>
            <a:r>
              <a:rPr lang="en-US" sz="1800" i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— it needs more</a:t>
            </a:r>
            <a:endParaRPr lang="en-US" sz="1800"/>
          </a:p>
          <a:p>
            <a:pPr marL="0" indent="0" algn="l">
              <a:buNone/>
            </a:pPr>
            <a:r>
              <a:rPr lang="en-US" sz="1800" i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inventory."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Scale: $50,000,000</a:t>
            </a:r>
            <a:endParaRPr lang="en-US" sz="1150"/>
          </a:p>
          <a:p>
            <a:pPr marL="0" indent="0" algn="l">
              <a:buNone/>
            </a:pPr>
            <a:r>
              <a:rPr lang="en-US" sz="11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Window: 6 Quarters</a:t>
            </a:r>
            <a:endParaRPr lang="en-US" sz="1150"/>
          </a:p>
          <a:p>
            <a:pPr marL="0" indent="0" algn="l">
              <a:buNone/>
            </a:pPr>
            <a:r>
              <a:rPr lang="en-US" sz="1150">
                <a:solidFill>
                  <a:srgbClr val="3D4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 Contribution: ~$50–60M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2026-05-01T19:17:53Z</dcterms:created>
  <dcterms:modified xsi:type="dcterms:W3CDTF">2026-05-02T00:25:14Z</dcterms:modified>
</cp:coreProperties>
</file>